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Canva Sans Bold" panose="020B0604020202020204" charset="0"/>
      <p:regular r:id="rId15"/>
    </p:embeddedFont>
    <p:embeddedFont>
      <p:font typeface="Canva Sans Bold Italics" panose="020B0604020202020204" charset="0"/>
      <p:regular r:id="rId16"/>
    </p:embeddedFont>
    <p:embeddedFont>
      <p:font typeface="Glacial Indifference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2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85006" y="0"/>
            <a:ext cx="6902994" cy="10287000"/>
            <a:chOff x="0" y="0"/>
            <a:chExt cx="106945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9454" cy="1593725"/>
            </a:xfrm>
            <a:custGeom>
              <a:avLst/>
              <a:gdLst/>
              <a:ahLst/>
              <a:cxnLst/>
              <a:rect l="l" t="t" r="r" b="b"/>
              <a:pathLst>
                <a:path w="1069454" h="1593725">
                  <a:moveTo>
                    <a:pt x="0" y="0"/>
                  </a:moveTo>
                  <a:lnTo>
                    <a:pt x="1069454" y="0"/>
                  </a:lnTo>
                  <a:lnTo>
                    <a:pt x="106945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01" r="-20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192911" y="0"/>
            <a:ext cx="10192095" cy="10287000"/>
            <a:chOff x="0" y="0"/>
            <a:chExt cx="2684338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84338" cy="2709333"/>
            </a:xfrm>
            <a:custGeom>
              <a:avLst/>
              <a:gdLst/>
              <a:ahLst/>
              <a:cxnLst/>
              <a:rect l="l" t="t" r="r" b="b"/>
              <a:pathLst>
                <a:path w="2684338" h="2709333">
                  <a:moveTo>
                    <a:pt x="0" y="0"/>
                  </a:moveTo>
                  <a:lnTo>
                    <a:pt x="2684338" y="0"/>
                  </a:lnTo>
                  <a:lnTo>
                    <a:pt x="2684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68433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614339"/>
            <a:ext cx="4851952" cy="828723"/>
            <a:chOff x="0" y="0"/>
            <a:chExt cx="1277880" cy="2182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902892" y="791766"/>
            <a:ext cx="2783699" cy="473869"/>
            <a:chOff x="0" y="0"/>
            <a:chExt cx="3711599" cy="6318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8372" y="-2011"/>
              <a:ext cx="2833227" cy="57875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7"/>
                </a:lnSpc>
              </a:pPr>
              <a:r>
                <a:rPr lang="en-US" sz="2598">
                  <a:solidFill>
                    <a:srgbClr val="89AAB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CISB5133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8752993" y="0"/>
            <a:ext cx="2632013" cy="1500247"/>
          </a:xfrm>
          <a:custGeom>
            <a:avLst/>
            <a:gdLst/>
            <a:ahLst/>
            <a:cxnLst/>
            <a:rect l="l" t="t" r="r" b="b"/>
            <a:pathLst>
              <a:path w="2632013" h="1500247">
                <a:moveTo>
                  <a:pt x="0" y="0"/>
                </a:moveTo>
                <a:lnTo>
                  <a:pt x="2632013" y="0"/>
                </a:lnTo>
                <a:lnTo>
                  <a:pt x="2632013" y="1500247"/>
                </a:lnTo>
                <a:lnTo>
                  <a:pt x="0" y="15002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2425976" y="2138449"/>
            <a:ext cx="3973193" cy="1473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26"/>
              </a:lnSpc>
            </a:pPr>
            <a:r>
              <a:rPr lang="en-US" sz="4233" b="1" i="1">
                <a:solidFill>
                  <a:srgbClr val="89AAB5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Sentiment Analysis &amp;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25976" y="3688468"/>
            <a:ext cx="4904909" cy="721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926"/>
              </a:lnSpc>
            </a:pPr>
            <a:r>
              <a:rPr lang="en-US" sz="4233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 Modeling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23452" y="4523930"/>
            <a:ext cx="7731014" cy="3397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798"/>
              </a:lnSpc>
            </a:pPr>
            <a:r>
              <a:rPr lang="en-US" sz="19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Jabal Omar Marriott Hotel Reviews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902892" y="6347301"/>
            <a:ext cx="8799996" cy="2491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7794" lvl="1" indent="-258897" algn="l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ALSAKKAF MUSAAB (SW01083207)</a:t>
            </a:r>
          </a:p>
          <a:p>
            <a:pPr marL="517794" lvl="1" indent="-258897" algn="l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BAWZIR AHMED ALI AHMED (SW01084040)</a:t>
            </a:r>
          </a:p>
          <a:p>
            <a:pPr marL="517794" lvl="1" indent="-258897" algn="l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ALHATHAL NAIF MASHAAN D (SW01084553)</a:t>
            </a:r>
          </a:p>
          <a:p>
            <a:pPr marL="517794" lvl="1" indent="-258897" algn="l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HASHEM MUSAAB (SW01084071)</a:t>
            </a:r>
          </a:p>
          <a:p>
            <a:pPr marL="517794" lvl="1" indent="-258897" algn="l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MOUSAB MOHAMMED ELHASSAN ADAM (SW01084034)</a:t>
            </a:r>
          </a:p>
          <a:p>
            <a:pPr marL="517794" lvl="1" indent="-258897" algn="l">
              <a:lnSpc>
                <a:spcPts val="3357"/>
              </a:lnSpc>
              <a:buFont typeface="Arial"/>
              <a:buChar char="•"/>
            </a:pPr>
            <a:r>
              <a:rPr lang="en-US" sz="23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ZRIYAB ABUBAKER MOSTAFA (SW01082419)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9" y="1599589"/>
            <a:ext cx="10534094" cy="8687411"/>
            <a:chOff x="0" y="0"/>
            <a:chExt cx="1069454" cy="881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9454" cy="881973"/>
            </a:xfrm>
            <a:custGeom>
              <a:avLst/>
              <a:gdLst/>
              <a:ahLst/>
              <a:cxnLst/>
              <a:rect l="l" t="t" r="r" b="b"/>
              <a:pathLst>
                <a:path w="1069454" h="881973">
                  <a:moveTo>
                    <a:pt x="0" y="0"/>
                  </a:moveTo>
                  <a:lnTo>
                    <a:pt x="1069454" y="0"/>
                  </a:lnTo>
                  <a:lnTo>
                    <a:pt x="1069454" y="881973"/>
                  </a:lnTo>
                  <a:lnTo>
                    <a:pt x="0" y="881973"/>
                  </a:lnTo>
                  <a:close/>
                </a:path>
              </a:pathLst>
            </a:custGeom>
            <a:blipFill>
              <a:blip r:embed="rId2"/>
              <a:stretch>
                <a:fillRect l="-985" r="-98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1391" y="2165306"/>
            <a:ext cx="12717909" cy="7507356"/>
            <a:chOff x="0" y="0"/>
            <a:chExt cx="3349573" cy="1977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49573" cy="1977246"/>
            </a:xfrm>
            <a:custGeom>
              <a:avLst/>
              <a:gdLst/>
              <a:ahLst/>
              <a:cxnLst/>
              <a:rect l="l" t="t" r="r" b="b"/>
              <a:pathLst>
                <a:path w="3349573" h="1977246">
                  <a:moveTo>
                    <a:pt x="0" y="0"/>
                  </a:moveTo>
                  <a:lnTo>
                    <a:pt x="3349573" y="0"/>
                  </a:lnTo>
                  <a:lnTo>
                    <a:pt x="3349573" y="1977246"/>
                  </a:lnTo>
                  <a:lnTo>
                    <a:pt x="0" y="1977246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349573" cy="2015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54831"/>
            <a:ext cx="3667352" cy="473869"/>
            <a:chOff x="0" y="0"/>
            <a:chExt cx="4889802" cy="6318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8372" y="17039"/>
              <a:ext cx="4011430" cy="418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65"/>
                </a:lnSpc>
              </a:pPr>
              <a:r>
                <a:rPr lang="en-US" sz="1904">
                  <a:solidFill>
                    <a:srgbClr val="15202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Jabal Omar Marriott Makkah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07348" y="9258300"/>
            <a:ext cx="4851952" cy="828723"/>
            <a:chOff x="0" y="0"/>
            <a:chExt cx="1277880" cy="218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886973" y="554831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5619710" y="2900191"/>
            <a:ext cx="8772724" cy="277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92"/>
              </a:lnSpc>
            </a:pPr>
            <a:r>
              <a:rPr lang="en-US" sz="7994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PROBLEM STATEMENT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19710" y="6200856"/>
            <a:ext cx="10582325" cy="1379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8461" lvl="1" indent="-219230" algn="l">
              <a:lnSpc>
                <a:spcPts val="2843"/>
              </a:lnSpc>
              <a:buFont typeface="Arial"/>
              <a:buChar char="•"/>
            </a:pPr>
            <a:r>
              <a:rPr lang="en-US" sz="2030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Online hotel platforms contain hundreds of customer reviews.</a:t>
            </a:r>
          </a:p>
          <a:p>
            <a:pPr marL="438461" lvl="1" indent="-219230" algn="l">
              <a:lnSpc>
                <a:spcPts val="2843"/>
              </a:lnSpc>
              <a:buFont typeface="Arial"/>
              <a:buChar char="•"/>
            </a:pPr>
            <a:r>
              <a:rPr lang="en-US" sz="2030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It is difficult to manually analyze all reviews to understand customer satisfaction.</a:t>
            </a:r>
          </a:p>
          <a:p>
            <a:pPr marL="438461" lvl="1" indent="-219230" algn="l">
              <a:lnSpc>
                <a:spcPts val="2843"/>
              </a:lnSpc>
              <a:buFont typeface="Arial"/>
              <a:buChar char="•"/>
            </a:pPr>
            <a:r>
              <a:rPr lang="en-US" sz="2030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Important insights about service, cleanliness, and facilities may be missed.</a:t>
            </a:r>
          </a:p>
          <a:p>
            <a:pPr marL="0" lvl="0" indent="0" algn="just">
              <a:lnSpc>
                <a:spcPts val="2563"/>
              </a:lnSpc>
            </a:pPr>
            <a:endParaRPr lang="en-US" sz="2030">
              <a:solidFill>
                <a:srgbClr val="89AAB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26546" y="0"/>
            <a:ext cx="8561454" cy="10287000"/>
            <a:chOff x="0" y="0"/>
            <a:chExt cx="132639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6393" cy="1593725"/>
            </a:xfrm>
            <a:custGeom>
              <a:avLst/>
              <a:gdLst/>
              <a:ahLst/>
              <a:cxnLst/>
              <a:rect l="l" t="t" r="r" b="b"/>
              <a:pathLst>
                <a:path w="1326393" h="1593725">
                  <a:moveTo>
                    <a:pt x="0" y="0"/>
                  </a:moveTo>
                  <a:lnTo>
                    <a:pt x="1326393" y="0"/>
                  </a:lnTo>
                  <a:lnTo>
                    <a:pt x="132639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453" b="-145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97632" y="377404"/>
            <a:ext cx="9300171" cy="9332799"/>
            <a:chOff x="0" y="0"/>
            <a:chExt cx="2449428" cy="24580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9428" cy="2458021"/>
            </a:xfrm>
            <a:custGeom>
              <a:avLst/>
              <a:gdLst/>
              <a:ahLst/>
              <a:cxnLst/>
              <a:rect l="l" t="t" r="r" b="b"/>
              <a:pathLst>
                <a:path w="2449428" h="2458021">
                  <a:moveTo>
                    <a:pt x="0" y="0"/>
                  </a:moveTo>
                  <a:lnTo>
                    <a:pt x="2449428" y="0"/>
                  </a:lnTo>
                  <a:lnTo>
                    <a:pt x="2449428" y="2458021"/>
                  </a:lnTo>
                  <a:lnTo>
                    <a:pt x="0" y="2458021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49428" cy="2496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426375" y="377404"/>
            <a:ext cx="5192520" cy="828723"/>
            <a:chOff x="0" y="0"/>
            <a:chExt cx="1367577" cy="2182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367577" cy="218264"/>
            </a:xfrm>
            <a:custGeom>
              <a:avLst/>
              <a:gdLst/>
              <a:ahLst/>
              <a:cxnLst/>
              <a:rect l="l" t="t" r="r" b="b"/>
              <a:pathLst>
                <a:path w="1367577" h="218264">
                  <a:moveTo>
                    <a:pt x="0" y="0"/>
                  </a:moveTo>
                  <a:lnTo>
                    <a:pt x="1367577" y="0"/>
                  </a:lnTo>
                  <a:lnTo>
                    <a:pt x="1367577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367577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630987" y="1577581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1826804" y="554831"/>
            <a:ext cx="3934115" cy="473869"/>
            <a:chOff x="0" y="0"/>
            <a:chExt cx="5245486" cy="631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8372" y="17039"/>
              <a:ext cx="4367114" cy="418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65"/>
                </a:lnSpc>
              </a:pPr>
              <a:r>
                <a:rPr lang="en-US" sz="1904">
                  <a:solidFill>
                    <a:srgbClr val="89AAB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Jabal Omar Marriott, Makkah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877084"/>
            <a:ext cx="843803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</a:pPr>
            <a:r>
              <a:rPr lang="en-US" sz="8000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0953" y="5291312"/>
            <a:ext cx="7731014" cy="1506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048"/>
              </a:lnSpc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• Analyze guest reviews from Tripadvisor</a:t>
            </a:r>
          </a:p>
          <a:p>
            <a:pPr algn="just">
              <a:lnSpc>
                <a:spcPts val="3048"/>
              </a:lnSpc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• Identify overall customer sentiment</a:t>
            </a:r>
          </a:p>
          <a:p>
            <a:pPr algn="just">
              <a:lnSpc>
                <a:spcPts val="3048"/>
              </a:lnSpc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• Discover common topics (service, cleanliness, location)</a:t>
            </a:r>
          </a:p>
          <a:p>
            <a:pPr marL="0" lvl="0" indent="0" algn="just">
              <a:lnSpc>
                <a:spcPts val="3048"/>
              </a:lnSpc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• Extract meaningful insights from text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1028700"/>
            <a:ext cx="5954070" cy="8229600"/>
            <a:chOff x="0" y="0"/>
            <a:chExt cx="1069454" cy="147817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9454" cy="1478179"/>
            </a:xfrm>
            <a:custGeom>
              <a:avLst/>
              <a:gdLst/>
              <a:ahLst/>
              <a:cxnLst/>
              <a:rect l="l" t="t" r="r" b="b"/>
              <a:pathLst>
                <a:path w="1069454" h="1478179">
                  <a:moveTo>
                    <a:pt x="0" y="0"/>
                  </a:moveTo>
                  <a:lnTo>
                    <a:pt x="1069454" y="0"/>
                  </a:lnTo>
                  <a:lnTo>
                    <a:pt x="1069454" y="1478179"/>
                  </a:lnTo>
                  <a:lnTo>
                    <a:pt x="0" y="1478179"/>
                  </a:lnTo>
                  <a:close/>
                </a:path>
              </a:pathLst>
            </a:custGeom>
            <a:blipFill>
              <a:blip r:embed="rId2"/>
              <a:stretch>
                <a:fillRect l="-1572" r="-157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024509" y="0"/>
            <a:ext cx="9790236" cy="10287000"/>
            <a:chOff x="0" y="0"/>
            <a:chExt cx="2578498" cy="27093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578498" cy="2709333"/>
            </a:xfrm>
            <a:custGeom>
              <a:avLst/>
              <a:gdLst/>
              <a:ahLst/>
              <a:cxnLst/>
              <a:rect l="l" t="t" r="r" b="b"/>
              <a:pathLst>
                <a:path w="2578498" h="2709333">
                  <a:moveTo>
                    <a:pt x="0" y="0"/>
                  </a:moveTo>
                  <a:lnTo>
                    <a:pt x="2578498" y="0"/>
                  </a:lnTo>
                  <a:lnTo>
                    <a:pt x="25784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57849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919627" y="614339"/>
            <a:ext cx="4851952" cy="828723"/>
            <a:chOff x="0" y="0"/>
            <a:chExt cx="1277880" cy="2182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-286362" y="1525903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7"/>
                </a:lnTo>
                <a:lnTo>
                  <a:pt x="0" y="9038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14072796" y="791766"/>
            <a:ext cx="2783699" cy="473869"/>
            <a:chOff x="0" y="0"/>
            <a:chExt cx="3711599" cy="631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8372" y="-2011"/>
              <a:ext cx="2833227" cy="5788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637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536080" y="1825406"/>
            <a:ext cx="7150058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</a:pPr>
            <a:r>
              <a:rPr lang="en-US" sz="8000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DATASET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36080" y="5083726"/>
            <a:ext cx="7744024" cy="2846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517" lvl="1" indent="-291259" algn="l">
              <a:lnSpc>
                <a:spcPts val="3777"/>
              </a:lnSpc>
              <a:buFont typeface="Arial"/>
              <a:buChar char="•"/>
            </a:pPr>
            <a:r>
              <a:rPr lang="en-US" sz="26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Source: Tripadvisor</a:t>
            </a:r>
          </a:p>
          <a:p>
            <a:pPr marL="582517" lvl="1" indent="-291259" algn="l">
              <a:lnSpc>
                <a:spcPts val="3777"/>
              </a:lnSpc>
              <a:buFont typeface="Arial"/>
              <a:buChar char="•"/>
            </a:pPr>
            <a:r>
              <a:rPr lang="en-US" sz="26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Hotel: Jabal Omar Marriott, Makkah</a:t>
            </a:r>
          </a:p>
          <a:p>
            <a:pPr marL="582517" lvl="1" indent="-291259" algn="l">
              <a:lnSpc>
                <a:spcPts val="3777"/>
              </a:lnSpc>
              <a:buFont typeface="Arial"/>
              <a:buChar char="•"/>
            </a:pPr>
            <a:r>
              <a:rPr lang="en-US" sz="26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Total reviews: 497</a:t>
            </a:r>
          </a:p>
          <a:p>
            <a:pPr marL="582517" lvl="1" indent="-291259" algn="l">
              <a:lnSpc>
                <a:spcPts val="3777"/>
              </a:lnSpc>
              <a:buFont typeface="Arial"/>
              <a:buChar char="•"/>
            </a:pPr>
            <a:r>
              <a:rPr lang="en-US" sz="26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Language: English</a:t>
            </a:r>
          </a:p>
          <a:p>
            <a:pPr marL="582517" lvl="1" indent="-291259" algn="l">
              <a:lnSpc>
                <a:spcPts val="3777"/>
              </a:lnSpc>
              <a:buFont typeface="Arial"/>
              <a:buChar char="•"/>
            </a:pPr>
            <a:r>
              <a:rPr lang="en-US" sz="26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Collected using Python (Selenium)</a:t>
            </a:r>
          </a:p>
          <a:p>
            <a:pPr marL="582517" lvl="1" indent="-291259" algn="l">
              <a:lnSpc>
                <a:spcPts val="3777"/>
              </a:lnSpc>
              <a:buFont typeface="Arial"/>
              <a:buChar char="•"/>
            </a:pPr>
            <a:r>
              <a:rPr lang="en-US" sz="2698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Stored in CSV format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4953753" y="848042"/>
            <a:ext cx="3186504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Jabal Omar Marriott, Makkah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374244" y="0"/>
            <a:ext cx="6902994" cy="10287000"/>
            <a:chOff x="0" y="0"/>
            <a:chExt cx="1069454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9454" cy="1593725"/>
            </a:xfrm>
            <a:custGeom>
              <a:avLst/>
              <a:gdLst/>
              <a:ahLst/>
              <a:cxnLst/>
              <a:rect l="l" t="t" r="r" b="b"/>
              <a:pathLst>
                <a:path w="1069454" h="1593725">
                  <a:moveTo>
                    <a:pt x="0" y="0"/>
                  </a:moveTo>
                  <a:lnTo>
                    <a:pt x="1069454" y="0"/>
                  </a:lnTo>
                  <a:lnTo>
                    <a:pt x="1069454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201" r="-201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1525903"/>
            <a:ext cx="11565787" cy="8229600"/>
            <a:chOff x="0" y="0"/>
            <a:chExt cx="3046133" cy="216746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046133" cy="2167467"/>
            </a:xfrm>
            <a:custGeom>
              <a:avLst/>
              <a:gdLst/>
              <a:ahLst/>
              <a:cxnLst/>
              <a:rect l="l" t="t" r="r" b="b"/>
              <a:pathLst>
                <a:path w="3046133" h="2167467">
                  <a:moveTo>
                    <a:pt x="0" y="0"/>
                  </a:moveTo>
                  <a:lnTo>
                    <a:pt x="3046133" y="0"/>
                  </a:lnTo>
                  <a:lnTo>
                    <a:pt x="3046133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046133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54831"/>
            <a:ext cx="2783699" cy="473869"/>
            <a:chOff x="0" y="0"/>
            <a:chExt cx="3711599" cy="6318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8372" y="7514"/>
              <a:ext cx="2833227" cy="47198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32"/>
                </a:lnSpc>
              </a:pPr>
              <a:r>
                <a:rPr lang="en-US" sz="2094">
                  <a:solidFill>
                    <a:srgbClr val="15202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Sentiment Analysis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028700" y="9258300"/>
            <a:ext cx="4851952" cy="828723"/>
            <a:chOff x="0" y="0"/>
            <a:chExt cx="1277880" cy="218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1116485" y="2199463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2219270" y="2498966"/>
            <a:ext cx="9545082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</a:pPr>
            <a:r>
              <a:rPr lang="en-US" sz="8000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PREPROCESSING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219270" y="5602603"/>
            <a:ext cx="8695936" cy="19344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8014" lvl="1" indent="-239007" algn="l">
              <a:lnSpc>
                <a:spcPts val="3099"/>
              </a:lnSpc>
              <a:buFont typeface="Arial"/>
              <a:buChar char="•"/>
            </a:pPr>
            <a:r>
              <a:rPr lang="en-US" sz="2214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Convert text to lowercase</a:t>
            </a:r>
          </a:p>
          <a:p>
            <a:pPr marL="478014" lvl="1" indent="-239007" algn="l">
              <a:lnSpc>
                <a:spcPts val="3099"/>
              </a:lnSpc>
              <a:buFont typeface="Arial"/>
              <a:buChar char="•"/>
            </a:pPr>
            <a:r>
              <a:rPr lang="en-US" sz="2214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Remove punctuation, numbers, and URLs</a:t>
            </a:r>
          </a:p>
          <a:p>
            <a:pPr marL="478014" lvl="1" indent="-239007" algn="l">
              <a:lnSpc>
                <a:spcPts val="3099"/>
              </a:lnSpc>
              <a:buFont typeface="Arial"/>
              <a:buChar char="•"/>
            </a:pPr>
            <a:r>
              <a:rPr lang="en-US" sz="2214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Remove stopwords</a:t>
            </a:r>
          </a:p>
          <a:p>
            <a:pPr marL="478014" lvl="1" indent="-239007" algn="l">
              <a:lnSpc>
                <a:spcPts val="3099"/>
              </a:lnSpc>
              <a:buFont typeface="Arial"/>
              <a:buChar char="•"/>
            </a:pPr>
            <a:r>
              <a:rPr lang="en-US" sz="2214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Apply lemmatization</a:t>
            </a:r>
          </a:p>
          <a:p>
            <a:pPr marL="478014" lvl="1" indent="-239007" algn="l">
              <a:lnSpc>
                <a:spcPts val="3099"/>
              </a:lnSpc>
              <a:buFont typeface="Arial"/>
              <a:buChar char="•"/>
            </a:pPr>
            <a:r>
              <a:rPr lang="en-US" sz="2214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Perform tokenization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726546" y="0"/>
            <a:ext cx="8561454" cy="10287000"/>
            <a:chOff x="0" y="0"/>
            <a:chExt cx="1326393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26393" cy="1593725"/>
            </a:xfrm>
            <a:custGeom>
              <a:avLst/>
              <a:gdLst/>
              <a:ahLst/>
              <a:cxnLst/>
              <a:rect l="l" t="t" r="r" b="b"/>
              <a:pathLst>
                <a:path w="1326393" h="1593725">
                  <a:moveTo>
                    <a:pt x="0" y="0"/>
                  </a:moveTo>
                  <a:lnTo>
                    <a:pt x="1326393" y="0"/>
                  </a:lnTo>
                  <a:lnTo>
                    <a:pt x="1326393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1453" b="-145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26375" y="377404"/>
            <a:ext cx="9300171" cy="9332799"/>
            <a:chOff x="0" y="0"/>
            <a:chExt cx="2449428" cy="24580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49428" cy="2458021"/>
            </a:xfrm>
            <a:custGeom>
              <a:avLst/>
              <a:gdLst/>
              <a:ahLst/>
              <a:cxnLst/>
              <a:rect l="l" t="t" r="r" b="b"/>
              <a:pathLst>
                <a:path w="2449428" h="2458021">
                  <a:moveTo>
                    <a:pt x="0" y="0"/>
                  </a:moveTo>
                  <a:lnTo>
                    <a:pt x="2449428" y="0"/>
                  </a:lnTo>
                  <a:lnTo>
                    <a:pt x="2449428" y="2458021"/>
                  </a:lnTo>
                  <a:lnTo>
                    <a:pt x="0" y="2458021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449428" cy="2496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377404"/>
            <a:ext cx="4851952" cy="828723"/>
            <a:chOff x="0" y="0"/>
            <a:chExt cx="1277880" cy="2182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8630987" y="1577581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1028700" y="554831"/>
            <a:ext cx="3734042" cy="473869"/>
            <a:chOff x="0" y="0"/>
            <a:chExt cx="4978723" cy="631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8372" y="17039"/>
              <a:ext cx="4100351" cy="418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65"/>
                </a:lnSpc>
              </a:pPr>
              <a:r>
                <a:rPr lang="en-US" sz="1904">
                  <a:solidFill>
                    <a:srgbClr val="89AAB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Jabal Omar Marriott, Makkah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1886609"/>
            <a:ext cx="8438035" cy="277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92"/>
              </a:lnSpc>
            </a:pPr>
            <a:r>
              <a:rPr lang="en-US" sz="7994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SENTIMENT ANALYSIS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10953" y="5291312"/>
            <a:ext cx="7731014" cy="3030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0081" lvl="1" indent="-235041" algn="l">
              <a:lnSpc>
                <a:spcPts val="3048"/>
              </a:lnSpc>
              <a:buFont typeface="Arial"/>
              <a:buChar char="•"/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Method: VADER Sentiment Analysis</a:t>
            </a:r>
          </a:p>
          <a:p>
            <a:pPr marL="470081" lvl="1" indent="-235041" algn="l">
              <a:lnSpc>
                <a:spcPts val="3048"/>
              </a:lnSpc>
              <a:buFont typeface="Arial"/>
              <a:buChar char="•"/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Suitable for short review texts</a:t>
            </a:r>
          </a:p>
          <a:p>
            <a:pPr marL="470081" lvl="1" indent="-235041" algn="l">
              <a:lnSpc>
                <a:spcPts val="3048"/>
              </a:lnSpc>
              <a:buFont typeface="Arial"/>
              <a:buChar char="•"/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Classifies reviews into: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         •   Positive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         •   Negative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         •   Neutral</a:t>
            </a:r>
          </a:p>
          <a:p>
            <a:pPr algn="l">
              <a:lnSpc>
                <a:spcPts val="3048"/>
              </a:lnSpc>
            </a:pPr>
            <a:r>
              <a:rPr lang="en-US" sz="21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          • Uses compound score for sentiment polarity</a:t>
            </a:r>
          </a:p>
          <a:p>
            <a:pPr algn="l">
              <a:lnSpc>
                <a:spcPts val="3048"/>
              </a:lnSpc>
            </a:pPr>
            <a:endParaRPr lang="en-US" sz="2177">
              <a:solidFill>
                <a:srgbClr val="89AAB5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76744" y="0"/>
            <a:ext cx="9014107" cy="7829720"/>
            <a:chOff x="0" y="0"/>
            <a:chExt cx="1396521" cy="121302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96521" cy="1213029"/>
            </a:xfrm>
            <a:custGeom>
              <a:avLst/>
              <a:gdLst/>
              <a:ahLst/>
              <a:cxnLst/>
              <a:rect l="l" t="t" r="r" b="b"/>
              <a:pathLst>
                <a:path w="1396521" h="1213029">
                  <a:moveTo>
                    <a:pt x="0" y="0"/>
                  </a:moveTo>
                  <a:lnTo>
                    <a:pt x="1396521" y="0"/>
                  </a:lnTo>
                  <a:lnTo>
                    <a:pt x="1396521" y="1213029"/>
                  </a:lnTo>
                  <a:lnTo>
                    <a:pt x="0" y="1213029"/>
                  </a:lnTo>
                  <a:close/>
                </a:path>
              </a:pathLst>
            </a:custGeom>
            <a:blipFill>
              <a:blip r:embed="rId2"/>
              <a:stretch>
                <a:fillRect l="-3700" r="-3700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028700" y="2680209"/>
            <a:ext cx="10632541" cy="7029994"/>
            <a:chOff x="0" y="0"/>
            <a:chExt cx="2800340" cy="185152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800340" cy="1851521"/>
            </a:xfrm>
            <a:custGeom>
              <a:avLst/>
              <a:gdLst/>
              <a:ahLst/>
              <a:cxnLst/>
              <a:rect l="l" t="t" r="r" b="b"/>
              <a:pathLst>
                <a:path w="2800340" h="1851521">
                  <a:moveTo>
                    <a:pt x="0" y="0"/>
                  </a:moveTo>
                  <a:lnTo>
                    <a:pt x="2800340" y="0"/>
                  </a:lnTo>
                  <a:lnTo>
                    <a:pt x="2800340" y="1851521"/>
                  </a:lnTo>
                  <a:lnTo>
                    <a:pt x="0" y="1851521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800340" cy="18896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0" y="614339"/>
            <a:ext cx="4851952" cy="828723"/>
            <a:chOff x="0" y="0"/>
            <a:chExt cx="1277880" cy="21826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2588332" y="8806397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3" y="0"/>
                </a:lnTo>
                <a:lnTo>
                  <a:pt x="2630123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11" name="Group 11"/>
          <p:cNvGrpSpPr/>
          <p:nvPr/>
        </p:nvGrpSpPr>
        <p:grpSpPr>
          <a:xfrm>
            <a:off x="1958609" y="791766"/>
            <a:ext cx="2783699" cy="473869"/>
            <a:chOff x="0" y="0"/>
            <a:chExt cx="3711599" cy="63182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8372" y="7514"/>
              <a:ext cx="2833227" cy="4823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7"/>
                </a:lnSpc>
              </a:pPr>
              <a:r>
                <a:rPr lang="en-US" sz="2162">
                  <a:solidFill>
                    <a:srgbClr val="89AAB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CISB5133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958609" y="3145396"/>
            <a:ext cx="8772724" cy="2778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192"/>
              </a:lnSpc>
            </a:pPr>
            <a:r>
              <a:rPr lang="en-US" sz="7994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TOPIC MODELING (LDA)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958609" y="6451285"/>
            <a:ext cx="8772724" cy="18981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63441" lvl="1" indent="-231720" algn="l">
              <a:lnSpc>
                <a:spcPts val="3005"/>
              </a:lnSpc>
              <a:buFont typeface="Arial"/>
              <a:buChar char="•"/>
            </a:pPr>
            <a:r>
              <a:rPr lang="en-US" sz="2146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Method used: Latent Dirichlet Allocation (LDA)</a:t>
            </a:r>
          </a:p>
          <a:p>
            <a:pPr marL="463441" lvl="1" indent="-231720" algn="l">
              <a:lnSpc>
                <a:spcPts val="3005"/>
              </a:lnSpc>
              <a:buFont typeface="Arial"/>
              <a:buChar char="•"/>
            </a:pPr>
            <a:r>
              <a:rPr lang="en-US" sz="2146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Used to identify hidden topics in reviews</a:t>
            </a:r>
          </a:p>
          <a:p>
            <a:pPr marL="463441" lvl="1" indent="-231720" algn="l">
              <a:lnSpc>
                <a:spcPts val="3005"/>
              </a:lnSpc>
              <a:buFont typeface="Arial"/>
              <a:buChar char="•"/>
            </a:pPr>
            <a:r>
              <a:rPr lang="en-US" sz="2146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Helps understand key themes in customer feedback</a:t>
            </a:r>
          </a:p>
          <a:p>
            <a:pPr marL="463441" lvl="1" indent="-231720" algn="l">
              <a:lnSpc>
                <a:spcPts val="3005"/>
              </a:lnSpc>
              <a:buFont typeface="Arial"/>
              <a:buChar char="•"/>
            </a:pPr>
            <a:r>
              <a:rPr lang="en-US" sz="2146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Topics include areas such as service, location, and facilities</a:t>
            </a:r>
          </a:p>
          <a:p>
            <a:pPr marL="463441" lvl="1" indent="-231720" algn="l">
              <a:lnSpc>
                <a:spcPts val="3005"/>
              </a:lnSpc>
              <a:buFont typeface="Arial"/>
              <a:buChar char="•"/>
            </a:pPr>
            <a:r>
              <a:rPr lang="en-US" sz="2146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Number of topics: 4 Topic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179" y="1599589"/>
            <a:ext cx="10534094" cy="8687411"/>
            <a:chOff x="0" y="0"/>
            <a:chExt cx="1069454" cy="8819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69454" cy="881973"/>
            </a:xfrm>
            <a:custGeom>
              <a:avLst/>
              <a:gdLst/>
              <a:ahLst/>
              <a:cxnLst/>
              <a:rect l="l" t="t" r="r" b="b"/>
              <a:pathLst>
                <a:path w="1069454" h="881973">
                  <a:moveTo>
                    <a:pt x="0" y="0"/>
                  </a:moveTo>
                  <a:lnTo>
                    <a:pt x="1069454" y="0"/>
                  </a:lnTo>
                  <a:lnTo>
                    <a:pt x="1069454" y="881973"/>
                  </a:lnTo>
                  <a:lnTo>
                    <a:pt x="0" y="881973"/>
                  </a:lnTo>
                  <a:close/>
                </a:path>
              </a:pathLst>
            </a:custGeom>
            <a:blipFill>
              <a:blip r:embed="rId2"/>
              <a:stretch>
                <a:fillRect l="-985" r="-985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4541391" y="2165306"/>
            <a:ext cx="12717909" cy="7507356"/>
            <a:chOff x="0" y="0"/>
            <a:chExt cx="3349573" cy="1977246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349573" cy="1977246"/>
            </a:xfrm>
            <a:custGeom>
              <a:avLst/>
              <a:gdLst/>
              <a:ahLst/>
              <a:cxnLst/>
              <a:rect l="l" t="t" r="r" b="b"/>
              <a:pathLst>
                <a:path w="3349573" h="1977246">
                  <a:moveTo>
                    <a:pt x="0" y="0"/>
                  </a:moveTo>
                  <a:lnTo>
                    <a:pt x="3349573" y="0"/>
                  </a:lnTo>
                  <a:lnTo>
                    <a:pt x="3349573" y="1977246"/>
                  </a:lnTo>
                  <a:lnTo>
                    <a:pt x="0" y="1977246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3349573" cy="20153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028700" y="554831"/>
            <a:ext cx="2783699" cy="473869"/>
            <a:chOff x="0" y="0"/>
            <a:chExt cx="3711599" cy="6318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8372" y="7514"/>
              <a:ext cx="2833227" cy="481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6"/>
                </a:lnSpc>
              </a:pPr>
              <a:r>
                <a:rPr lang="en-US" sz="2176">
                  <a:solidFill>
                    <a:srgbClr val="15202A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Musab | CISB5133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2407348" y="9258300"/>
            <a:ext cx="4851952" cy="828723"/>
            <a:chOff x="0" y="0"/>
            <a:chExt cx="1277880" cy="21826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886973" y="554831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>
            <a:off x="5619710" y="2890666"/>
            <a:ext cx="8772724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</a:pPr>
            <a:r>
              <a:rPr lang="en-US" sz="8000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EVALUATION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619710" y="6210381"/>
            <a:ext cx="10582325" cy="1099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1785" lvl="1" indent="-225893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Evaluation metrics: Coherence Score (Notebook) &amp; Perplexity (Dashboard)</a:t>
            </a:r>
          </a:p>
          <a:p>
            <a:pPr marL="451785" lvl="1" indent="-225893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Used to evaluate topic quality</a:t>
            </a:r>
          </a:p>
          <a:p>
            <a:pPr marL="451785" lvl="1" indent="-225893" algn="l">
              <a:lnSpc>
                <a:spcPts val="2929"/>
              </a:lnSpc>
              <a:buFont typeface="Arial"/>
              <a:buChar char="•"/>
            </a:pPr>
            <a:r>
              <a:rPr lang="en-US" sz="2092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Results indicate meaningful topic grouping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1028700" y="1028700"/>
            <a:ext cx="4498246" cy="7092994"/>
            <a:chOff x="0" y="0"/>
            <a:chExt cx="1184723" cy="186811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84723" cy="1868114"/>
            </a:xfrm>
            <a:custGeom>
              <a:avLst/>
              <a:gdLst/>
              <a:ahLst/>
              <a:cxnLst/>
              <a:rect l="l" t="t" r="r" b="b"/>
              <a:pathLst>
                <a:path w="1184723" h="1868114">
                  <a:moveTo>
                    <a:pt x="0" y="0"/>
                  </a:moveTo>
                  <a:lnTo>
                    <a:pt x="1184723" y="0"/>
                  </a:lnTo>
                  <a:lnTo>
                    <a:pt x="1184723" y="1868114"/>
                  </a:lnTo>
                  <a:lnTo>
                    <a:pt x="0" y="1868114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184723" cy="190621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1725056" y="791766"/>
            <a:ext cx="2783699" cy="473869"/>
            <a:chOff x="0" y="0"/>
            <a:chExt cx="3711599" cy="6318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8372" y="-2011"/>
              <a:ext cx="2833227" cy="5565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504"/>
                </a:lnSpc>
              </a:pPr>
              <a:r>
                <a:rPr lang="en-US" sz="2502">
                  <a:solidFill>
                    <a:srgbClr val="FFFFFF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CISB5133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0" y="9705975"/>
            <a:ext cx="18288000" cy="581025"/>
            <a:chOff x="0" y="0"/>
            <a:chExt cx="4816593" cy="15302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816592" cy="153027"/>
            </a:xfrm>
            <a:custGeom>
              <a:avLst/>
              <a:gdLst/>
              <a:ahLst/>
              <a:cxnLst/>
              <a:rect l="l" t="t" r="r" b="b"/>
              <a:pathLst>
                <a:path w="4816592" h="153027">
                  <a:moveTo>
                    <a:pt x="0" y="0"/>
                  </a:moveTo>
                  <a:lnTo>
                    <a:pt x="4816592" y="0"/>
                  </a:lnTo>
                  <a:lnTo>
                    <a:pt x="4816592" y="153027"/>
                  </a:lnTo>
                  <a:lnTo>
                    <a:pt x="0" y="153027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4816593" cy="19112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886973" y="554831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Freeform 14"/>
          <p:cNvSpPr/>
          <p:nvPr/>
        </p:nvSpPr>
        <p:spPr>
          <a:xfrm>
            <a:off x="10413002" y="5623919"/>
            <a:ext cx="6846298" cy="3878512"/>
          </a:xfrm>
          <a:custGeom>
            <a:avLst/>
            <a:gdLst/>
            <a:ahLst/>
            <a:cxnLst/>
            <a:rect l="l" t="t" r="r" b="b"/>
            <a:pathLst>
              <a:path w="6846298" h="3878512">
                <a:moveTo>
                  <a:pt x="0" y="0"/>
                </a:moveTo>
                <a:lnTo>
                  <a:pt x="6846298" y="0"/>
                </a:lnTo>
                <a:lnTo>
                  <a:pt x="6846298" y="3878512"/>
                </a:lnTo>
                <a:lnTo>
                  <a:pt x="0" y="38785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1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6" name="TextBox 16"/>
          <p:cNvSpPr txBox="1"/>
          <p:nvPr/>
        </p:nvSpPr>
        <p:spPr>
          <a:xfrm>
            <a:off x="1211305" y="1193954"/>
            <a:ext cx="6592737" cy="1135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315"/>
              </a:lnSpc>
            </a:pPr>
            <a:r>
              <a:rPr lang="en-US" sz="6654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VISUALIZATION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03376" y="2779071"/>
            <a:ext cx="6534518" cy="1589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Sentiment distribution chart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Topic distribution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Word cloud visualization</a:t>
            </a:r>
          </a:p>
          <a:p>
            <a:pPr marL="496569" lvl="1" indent="-248284" algn="l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Sentiment vs Topic analysis</a:t>
            </a:r>
          </a:p>
        </p:txBody>
      </p:sp>
      <p:pic>
        <p:nvPicPr>
          <p:cNvPr id="18" name="Picture 17" descr="0">
            <a:extLst>
              <a:ext uri="{FF2B5EF4-FFF2-40B4-BE49-F238E27FC236}">
                <a16:creationId xmlns:a16="http://schemas.microsoft.com/office/drawing/2014/main" id="{6AE62C34-CC17-425C-59F3-4633D86DB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4335" y="1442146"/>
            <a:ext cx="7025591" cy="3878512"/>
          </a:xfrm>
          <a:prstGeom prst="rect">
            <a:avLst/>
          </a:prstGeom>
        </p:spPr>
      </p:pic>
      <p:pic>
        <p:nvPicPr>
          <p:cNvPr id="19" name="Picture 18" descr="0">
            <a:extLst>
              <a:ext uri="{FF2B5EF4-FFF2-40B4-BE49-F238E27FC236}">
                <a16:creationId xmlns:a16="http://schemas.microsoft.com/office/drawing/2014/main" id="{B921C6F9-3442-E2A2-50AF-B701F7E062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3376" y="5506521"/>
            <a:ext cx="6939360" cy="38689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26375" y="377404"/>
            <a:ext cx="9300171" cy="9332799"/>
            <a:chOff x="0" y="0"/>
            <a:chExt cx="2449428" cy="245802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49428" cy="2458021"/>
            </a:xfrm>
            <a:custGeom>
              <a:avLst/>
              <a:gdLst/>
              <a:ahLst/>
              <a:cxnLst/>
              <a:rect l="l" t="t" r="r" b="b"/>
              <a:pathLst>
                <a:path w="2449428" h="2458021">
                  <a:moveTo>
                    <a:pt x="0" y="0"/>
                  </a:moveTo>
                  <a:lnTo>
                    <a:pt x="2449428" y="0"/>
                  </a:lnTo>
                  <a:lnTo>
                    <a:pt x="2449428" y="2458021"/>
                  </a:lnTo>
                  <a:lnTo>
                    <a:pt x="0" y="2458021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449428" cy="24961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77404"/>
            <a:ext cx="4851952" cy="828723"/>
            <a:chOff x="0" y="0"/>
            <a:chExt cx="1277880" cy="21826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8630987" y="1577581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9" name="Group 9"/>
          <p:cNvGrpSpPr/>
          <p:nvPr/>
        </p:nvGrpSpPr>
        <p:grpSpPr>
          <a:xfrm>
            <a:off x="1826804" y="554831"/>
            <a:ext cx="2783699" cy="473869"/>
            <a:chOff x="0" y="0"/>
            <a:chExt cx="3711599" cy="63182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8372" y="17039"/>
              <a:ext cx="2833227" cy="41811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665"/>
                </a:lnSpc>
              </a:pPr>
              <a:r>
                <a:rPr lang="en-US" sz="1904">
                  <a:solidFill>
                    <a:srgbClr val="89AAB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Jabal Omar Marriott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28700" y="1877084"/>
            <a:ext cx="8438035" cy="1368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1200"/>
              </a:lnSpc>
            </a:pPr>
            <a:r>
              <a:rPr lang="en-US" sz="8000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INSIGHTS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8664" y="5322297"/>
            <a:ext cx="8907881" cy="20451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6902" lvl="1" indent="-213451" algn="l">
              <a:lnSpc>
                <a:spcPts val="2768"/>
              </a:lnSpc>
              <a:buFont typeface="Arial"/>
              <a:buChar char="•"/>
            </a:pPr>
            <a:r>
              <a:rPr lang="en-US" sz="19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The dominant sentiment is positive, representing the majority of reviews</a:t>
            </a:r>
          </a:p>
          <a:p>
            <a:pPr marL="426902" lvl="1" indent="-213451" algn="l">
              <a:lnSpc>
                <a:spcPts val="2768"/>
              </a:lnSpc>
              <a:buFont typeface="Arial"/>
              <a:buChar char="•"/>
            </a:pPr>
            <a:r>
              <a:rPr lang="en-US" sz="19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The most frequent topic appears consistently across reviews</a:t>
            </a:r>
          </a:p>
          <a:p>
            <a:pPr marL="426902" lvl="1" indent="-213451" algn="l">
              <a:lnSpc>
                <a:spcPts val="2768"/>
              </a:lnSpc>
              <a:buFont typeface="Arial"/>
              <a:buChar char="•"/>
            </a:pPr>
            <a:r>
              <a:rPr lang="en-US" sz="19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Negative feedback is concentrated in specific topics</a:t>
            </a:r>
          </a:p>
          <a:p>
            <a:pPr marL="426902" lvl="1" indent="-213451" algn="l">
              <a:lnSpc>
                <a:spcPts val="2768"/>
              </a:lnSpc>
              <a:buFont typeface="Arial"/>
              <a:buChar char="•"/>
            </a:pPr>
            <a:r>
              <a:rPr lang="en-US" sz="1977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Repeated keywords highlight common customer concerns and experiences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1261111" y="1028700"/>
            <a:ext cx="5954070" cy="8229600"/>
            <a:chOff x="0" y="0"/>
            <a:chExt cx="1069454" cy="1478179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69454" cy="1478179"/>
            </a:xfrm>
            <a:custGeom>
              <a:avLst/>
              <a:gdLst/>
              <a:ahLst/>
              <a:cxnLst/>
              <a:rect l="l" t="t" r="r" b="b"/>
              <a:pathLst>
                <a:path w="1069454" h="1478179">
                  <a:moveTo>
                    <a:pt x="0" y="0"/>
                  </a:moveTo>
                  <a:lnTo>
                    <a:pt x="1069454" y="0"/>
                  </a:lnTo>
                  <a:lnTo>
                    <a:pt x="1069454" y="1478179"/>
                  </a:lnTo>
                  <a:lnTo>
                    <a:pt x="0" y="1478179"/>
                  </a:lnTo>
                  <a:close/>
                </a:path>
              </a:pathLst>
            </a:custGeom>
            <a:blipFill>
              <a:blip r:embed="rId4"/>
              <a:stretch>
                <a:fillRect l="-1572" r="-1572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20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70046" y="2824396"/>
            <a:ext cx="9814192" cy="5790991"/>
            <a:chOff x="0" y="0"/>
            <a:chExt cx="2015149" cy="118906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15149" cy="1189065"/>
            </a:xfrm>
            <a:custGeom>
              <a:avLst/>
              <a:gdLst/>
              <a:ahLst/>
              <a:cxnLst/>
              <a:rect l="l" t="t" r="r" b="b"/>
              <a:pathLst>
                <a:path w="2015149" h="1189065">
                  <a:moveTo>
                    <a:pt x="0" y="0"/>
                  </a:moveTo>
                  <a:lnTo>
                    <a:pt x="2015149" y="0"/>
                  </a:lnTo>
                  <a:lnTo>
                    <a:pt x="2015149" y="1189065"/>
                  </a:lnTo>
                  <a:lnTo>
                    <a:pt x="0" y="1189065"/>
                  </a:lnTo>
                  <a:close/>
                </a:path>
              </a:pathLst>
            </a:custGeom>
            <a:blipFill>
              <a:blip r:embed="rId2"/>
              <a:stretch>
                <a:fillRect t="-418" b="-418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14339"/>
            <a:ext cx="4851952" cy="828723"/>
            <a:chOff x="0" y="0"/>
            <a:chExt cx="1277880" cy="2182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15121150" y="8997114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3" y="0"/>
                </a:lnTo>
                <a:lnTo>
                  <a:pt x="2630123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8" name="Group 8"/>
          <p:cNvGrpSpPr/>
          <p:nvPr/>
        </p:nvGrpSpPr>
        <p:grpSpPr>
          <a:xfrm>
            <a:off x="1958609" y="791766"/>
            <a:ext cx="2783699" cy="473869"/>
            <a:chOff x="0" y="0"/>
            <a:chExt cx="3711599" cy="63182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8372" y="7514"/>
              <a:ext cx="2833227" cy="4823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27"/>
                </a:lnSpc>
              </a:pPr>
              <a:r>
                <a:rPr lang="en-US" sz="2162">
                  <a:solidFill>
                    <a:srgbClr val="89AAB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CISB5133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10550963" y="1551953"/>
            <a:ext cx="7200310" cy="4203181"/>
          </a:xfrm>
          <a:custGeom>
            <a:avLst/>
            <a:gdLst/>
            <a:ahLst/>
            <a:cxnLst/>
            <a:rect l="l" t="t" r="r" b="b"/>
            <a:pathLst>
              <a:path w="7200310" h="4203181">
                <a:moveTo>
                  <a:pt x="0" y="0"/>
                </a:moveTo>
                <a:lnTo>
                  <a:pt x="7200310" y="0"/>
                </a:lnTo>
                <a:lnTo>
                  <a:pt x="7200310" y="4203181"/>
                </a:lnTo>
                <a:lnTo>
                  <a:pt x="0" y="420318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2" name="TextBox 12"/>
          <p:cNvSpPr txBox="1"/>
          <p:nvPr/>
        </p:nvSpPr>
        <p:spPr>
          <a:xfrm>
            <a:off x="767242" y="1428128"/>
            <a:ext cx="8606277" cy="1110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139"/>
              </a:lnSpc>
            </a:pPr>
            <a:r>
              <a:rPr lang="en-US" sz="6528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DASHBOARD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390428" y="6709329"/>
            <a:ext cx="8316779" cy="13694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2825" lvl="1" indent="-211413" algn="l">
              <a:lnSpc>
                <a:spcPts val="2741"/>
              </a:lnSpc>
              <a:buFont typeface="Arial"/>
              <a:buChar char="•"/>
            </a:pPr>
            <a:r>
              <a:rPr lang="en-US" sz="19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Interactive dashboard developed using Streamlit</a:t>
            </a:r>
          </a:p>
          <a:p>
            <a:pPr marL="422825" lvl="1" indent="-211413" algn="l">
              <a:lnSpc>
                <a:spcPts val="2741"/>
              </a:lnSpc>
              <a:buFont typeface="Arial"/>
              <a:buChar char="•"/>
            </a:pPr>
            <a:r>
              <a:rPr lang="en-US" sz="19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Allows filtering by sentiment and topic</a:t>
            </a:r>
          </a:p>
          <a:p>
            <a:pPr marL="422825" lvl="1" indent="-211413" algn="l">
              <a:lnSpc>
                <a:spcPts val="2741"/>
              </a:lnSpc>
              <a:buFont typeface="Arial"/>
              <a:buChar char="•"/>
            </a:pPr>
            <a:r>
              <a:rPr lang="en-US" sz="19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Displays dynamic insights based on selected data</a:t>
            </a:r>
          </a:p>
          <a:p>
            <a:pPr marL="422825" lvl="1" indent="-211413" algn="l">
              <a:lnSpc>
                <a:spcPts val="2741"/>
              </a:lnSpc>
              <a:buFont typeface="Arial"/>
              <a:buChar char="•"/>
            </a:pPr>
            <a:r>
              <a:rPr lang="en-US" sz="1958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Includes:    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041845" y="8125677"/>
            <a:ext cx="3864984" cy="132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Sentiment distribution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Topic modeling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Word frequency &amp; word cloud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Review explorer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00455" y="0"/>
            <a:ext cx="11721400" cy="10287000"/>
            <a:chOff x="0" y="0"/>
            <a:chExt cx="1815952" cy="15937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15952" cy="1593725"/>
            </a:xfrm>
            <a:custGeom>
              <a:avLst/>
              <a:gdLst/>
              <a:ahLst/>
              <a:cxnLst/>
              <a:rect l="l" t="t" r="r" b="b"/>
              <a:pathLst>
                <a:path w="1815952" h="1593725">
                  <a:moveTo>
                    <a:pt x="0" y="0"/>
                  </a:moveTo>
                  <a:lnTo>
                    <a:pt x="1815952" y="0"/>
                  </a:lnTo>
                  <a:lnTo>
                    <a:pt x="1815952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t="-34559" b="-34559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614339"/>
            <a:ext cx="4851952" cy="828723"/>
            <a:chOff x="0" y="0"/>
            <a:chExt cx="1277880" cy="21826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277880" cy="218264"/>
            </a:xfrm>
            <a:custGeom>
              <a:avLst/>
              <a:gdLst/>
              <a:ahLst/>
              <a:cxnLst/>
              <a:rect l="l" t="t" r="r" b="b"/>
              <a:pathLst>
                <a:path w="1277880" h="218264">
                  <a:moveTo>
                    <a:pt x="0" y="0"/>
                  </a:moveTo>
                  <a:lnTo>
                    <a:pt x="1277880" y="0"/>
                  </a:lnTo>
                  <a:lnTo>
                    <a:pt x="1277880" y="218264"/>
                  </a:lnTo>
                  <a:lnTo>
                    <a:pt x="0" y="218264"/>
                  </a:lnTo>
                  <a:close/>
                </a:path>
              </a:pathLst>
            </a:custGeom>
            <a:solidFill>
              <a:srgbClr val="274357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1277880" cy="25636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902892" y="791766"/>
            <a:ext cx="2783699" cy="473869"/>
            <a:chOff x="0" y="0"/>
            <a:chExt cx="3711599" cy="631825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1825" cy="631825"/>
            </a:xfrm>
            <a:custGeom>
              <a:avLst/>
              <a:gdLst/>
              <a:ahLst/>
              <a:cxnLst/>
              <a:rect l="l" t="t" r="r" b="b"/>
              <a:pathLst>
                <a:path w="631825" h="631825">
                  <a:moveTo>
                    <a:pt x="0" y="0"/>
                  </a:moveTo>
                  <a:lnTo>
                    <a:pt x="631825" y="0"/>
                  </a:lnTo>
                  <a:lnTo>
                    <a:pt x="631825" y="631825"/>
                  </a:lnTo>
                  <a:lnTo>
                    <a:pt x="0" y="6318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8372" y="7514"/>
              <a:ext cx="2833227" cy="48192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046"/>
                </a:lnSpc>
              </a:pPr>
              <a:r>
                <a:rPr lang="en-US" sz="2176">
                  <a:solidFill>
                    <a:srgbClr val="89AAB5"/>
                  </a:solidFill>
                  <a:latin typeface="Glacial Indifference"/>
                  <a:ea typeface="Glacial Indifference"/>
                  <a:cs typeface="Glacial Indifference"/>
                  <a:sym typeface="Glacial Indifference"/>
                </a:rPr>
                <a:t> CISB5133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8303449" y="0"/>
            <a:ext cx="10192095" cy="10287000"/>
            <a:chOff x="0" y="0"/>
            <a:chExt cx="2684338" cy="270933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684338" cy="2709333"/>
            </a:xfrm>
            <a:custGeom>
              <a:avLst/>
              <a:gdLst/>
              <a:ahLst/>
              <a:cxnLst/>
              <a:rect l="l" t="t" r="r" b="b"/>
              <a:pathLst>
                <a:path w="2684338" h="2709333">
                  <a:moveTo>
                    <a:pt x="0" y="0"/>
                  </a:moveTo>
                  <a:lnTo>
                    <a:pt x="2684338" y="0"/>
                  </a:lnTo>
                  <a:lnTo>
                    <a:pt x="268433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5202A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684338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4629176" y="991158"/>
            <a:ext cx="2630124" cy="903806"/>
          </a:xfrm>
          <a:custGeom>
            <a:avLst/>
            <a:gdLst/>
            <a:ahLst/>
            <a:cxnLst/>
            <a:rect l="l" t="t" r="r" b="b"/>
            <a:pathLst>
              <a:path w="2630124" h="903806">
                <a:moveTo>
                  <a:pt x="0" y="0"/>
                </a:moveTo>
                <a:lnTo>
                  <a:pt x="2630124" y="0"/>
                </a:lnTo>
                <a:lnTo>
                  <a:pt x="2630124" y="903806"/>
                </a:lnTo>
                <a:lnTo>
                  <a:pt x="0" y="90380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4" name="TextBox 14"/>
          <p:cNvSpPr txBox="1"/>
          <p:nvPr/>
        </p:nvSpPr>
        <p:spPr>
          <a:xfrm rot="-5400000">
            <a:off x="-3296997" y="5940746"/>
            <a:ext cx="773101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679"/>
              </a:lnSpc>
            </a:pPr>
            <a:r>
              <a:rPr lang="en-US" sz="1200" spc="675">
                <a:solidFill>
                  <a:srgbClr val="15202A"/>
                </a:solidFill>
                <a:latin typeface="Canva Sans"/>
                <a:ea typeface="Canva Sans"/>
                <a:cs typeface="Canva Sans"/>
                <a:sym typeface="Canva Sans"/>
              </a:rPr>
              <a:t>JABAL OMAR MARRIOTT HOTEL, MAKKAH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2887964"/>
            <a:ext cx="8251287" cy="1566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871"/>
              </a:lnSpc>
            </a:pPr>
            <a:r>
              <a:rPr lang="en-US" sz="9193" b="1">
                <a:solidFill>
                  <a:srgbClr val="89AAB5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5001907"/>
            <a:ext cx="8251287" cy="1925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97251" lvl="1" indent="-198625" algn="l">
              <a:lnSpc>
                <a:spcPts val="2575"/>
              </a:lnSpc>
              <a:buFont typeface="Arial"/>
              <a:buChar char="•"/>
            </a:pPr>
            <a:r>
              <a:rPr lang="en-US" sz="1839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Text analytics helped extract useful insights from customer reviews</a:t>
            </a:r>
          </a:p>
          <a:p>
            <a:pPr marL="397251" lvl="1" indent="-198625" algn="l">
              <a:lnSpc>
                <a:spcPts val="2575"/>
              </a:lnSpc>
              <a:buFont typeface="Arial"/>
              <a:buChar char="•"/>
            </a:pPr>
            <a:r>
              <a:rPr lang="en-US" sz="1839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Sentiment analysis showed overall positive customer satisfaction Topic modeling identified key themes such as service, location, and facilities</a:t>
            </a:r>
          </a:p>
          <a:p>
            <a:pPr marL="397251" lvl="1" indent="-198625" algn="l">
              <a:lnSpc>
                <a:spcPts val="2575"/>
              </a:lnSpc>
              <a:buFont typeface="Arial"/>
              <a:buChar char="•"/>
            </a:pPr>
            <a:r>
              <a:rPr lang="en-US" sz="1839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The dashboard provides an interactive way to explore the data</a:t>
            </a:r>
          </a:p>
          <a:p>
            <a:pPr marL="397251" lvl="1" indent="-198625" algn="l">
              <a:lnSpc>
                <a:spcPts val="2575"/>
              </a:lnSpc>
              <a:buFont typeface="Arial"/>
              <a:buChar char="•"/>
            </a:pPr>
            <a:r>
              <a:rPr lang="en-US" sz="1839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Future improvements: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088540" y="8426731"/>
            <a:ext cx="7731014" cy="349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812"/>
              </a:lnSpc>
            </a:pPr>
            <a:r>
              <a:rPr lang="en-US" sz="2008">
                <a:solidFill>
                  <a:srgbClr val="15202A"/>
                </a:solidFill>
                <a:latin typeface="Canva Sans"/>
                <a:ea typeface="Canva Sans"/>
                <a:cs typeface="Canva Sans"/>
                <a:sym typeface="Canva Sans"/>
              </a:rPr>
              <a:t>THANK YOU FOR YOUR ATTENTION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799466" y="7030295"/>
            <a:ext cx="4301133" cy="656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Use advanced models (e.g., BERT)</a:t>
            </a:r>
          </a:p>
          <a:p>
            <a:pPr marL="410209" lvl="1" indent="-205105" algn="l">
              <a:lnSpc>
                <a:spcPts val="2659"/>
              </a:lnSpc>
              <a:buFont typeface="Arial"/>
              <a:buChar char="•"/>
            </a:pPr>
            <a:r>
              <a:rPr lang="en-US" sz="1899">
                <a:solidFill>
                  <a:srgbClr val="89AAB5"/>
                </a:solidFill>
                <a:latin typeface="Canva Sans"/>
                <a:ea typeface="Canva Sans"/>
                <a:cs typeface="Canva Sans"/>
                <a:sym typeface="Canva Sans"/>
              </a:rPr>
              <a:t>Include more data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469</Words>
  <Application>Microsoft Office PowerPoint</Application>
  <PresentationFormat>Custom</PresentationFormat>
  <Paragraphs>89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Calibri</vt:lpstr>
      <vt:lpstr>Canva Sans Bold Italics</vt:lpstr>
      <vt:lpstr>Arial</vt:lpstr>
      <vt:lpstr>Canva Sans Bold</vt:lpstr>
      <vt:lpstr>Canva Sans</vt:lpstr>
      <vt:lpstr>Glacial Indifference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Sentiment &amp; Topic Modeling: Jabal Omar Marriott Reviews</dc:title>
  <dc:creator>Musab Al-Sakkaf</dc:creator>
  <cp:lastModifiedBy>Musab Al-Sakkaf</cp:lastModifiedBy>
  <cp:revision>2</cp:revision>
  <dcterms:created xsi:type="dcterms:W3CDTF">2006-08-16T00:00:00Z</dcterms:created>
  <dcterms:modified xsi:type="dcterms:W3CDTF">2026-04-26T14:36:44Z</dcterms:modified>
  <dc:identifier>DAHH3zEgSU0</dc:identifier>
</cp:coreProperties>
</file>